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494cbfa72c405f" /><Relationship Type="http://schemas.openxmlformats.org/officeDocument/2006/relationships/extended-properties" Target="/docProps/app.xml" Id="Rd6b3e175a1a14891" /><Relationship Type="http://schemas.openxmlformats.org/officeDocument/2006/relationships/officeDocument" Target="/ppt/presentation.xml" Id="Rcb34033c2e6d46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841a38d8e94ca2"/>
  </p:sldMasterIdLst>
  <p:notesMasterIdLst>
    <p:notesMasterId xmlns:r="http://schemas.openxmlformats.org/officeDocument/2006/relationships" r:id="R1b809a89b023403c"/>
  </p:notesMasterIdLst>
  <p:sldIdLst>
    <p:sldId xmlns:r="http://schemas.openxmlformats.org/officeDocument/2006/relationships" id="256" r:id="R255cdb16c9374d3c"/>
    <p:sldId xmlns:r="http://schemas.openxmlformats.org/officeDocument/2006/relationships" id="257" r:id="R16741fe6cc72449a"/>
    <p:sldId xmlns:r="http://schemas.openxmlformats.org/officeDocument/2006/relationships" id="258" r:id="R84a343549b0d4af1"/>
    <p:sldId xmlns:r="http://schemas.openxmlformats.org/officeDocument/2006/relationships" id="259" r:id="Rf8cd7d2c8cdf49f1"/>
    <p:sldId xmlns:r="http://schemas.openxmlformats.org/officeDocument/2006/relationships" id="260" r:id="Rec4de05eb9fa40f8"/>
    <p:sldId xmlns:r="http://schemas.openxmlformats.org/officeDocument/2006/relationships" id="261" r:id="Rc675f9afae9d4abc"/>
    <p:sldId xmlns:r="http://schemas.openxmlformats.org/officeDocument/2006/relationships" id="262" r:id="Rf553f747318c4f01"/>
    <p:sldId xmlns:r="http://schemas.openxmlformats.org/officeDocument/2006/relationships" id="263" r:id="R9a12e4a458d045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cbc7381273449a" /><Relationship Type="http://schemas.openxmlformats.org/officeDocument/2006/relationships/slideMaster" Target="/ppt/slideMasters/slideMaster1.xml" Id="R8f841a38d8e94ca2" /><Relationship Type="http://schemas.openxmlformats.org/officeDocument/2006/relationships/notesMaster" Target="/ppt/notesMasters/notesMaster1.xml" Id="R1b809a89b023403c" /><Relationship Type="http://schemas.openxmlformats.org/officeDocument/2006/relationships/presProps" Target="/ppt/presProps.xml" Id="R538b1faae1f1481b" /><Relationship Type="http://schemas.openxmlformats.org/officeDocument/2006/relationships/tableStyles" Target="/ppt/tableStyles.xml" Id="R03798392896c4468" /><Relationship Type="http://schemas.openxmlformats.org/officeDocument/2006/relationships/slide" Target="/ppt/slides/slide1.xml" Id="R255cdb16c9374d3c" /><Relationship Type="http://schemas.openxmlformats.org/officeDocument/2006/relationships/slide" Target="/ppt/slides/slide2.xml" Id="R16741fe6cc72449a" /><Relationship Type="http://schemas.openxmlformats.org/officeDocument/2006/relationships/slide" Target="/ppt/slides/slide3.xml" Id="R84a343549b0d4af1" /><Relationship Type="http://schemas.openxmlformats.org/officeDocument/2006/relationships/slide" Target="/ppt/slides/slide4.xml" Id="Rf8cd7d2c8cdf49f1" /><Relationship Type="http://schemas.openxmlformats.org/officeDocument/2006/relationships/slide" Target="/ppt/slides/slide5.xml" Id="Rec4de05eb9fa40f8" /><Relationship Type="http://schemas.openxmlformats.org/officeDocument/2006/relationships/slide" Target="/ppt/slides/slide6.xml" Id="Rc675f9afae9d4abc" /><Relationship Type="http://schemas.openxmlformats.org/officeDocument/2006/relationships/slide" Target="/ppt/slides/slide7.xml" Id="Rf553f747318c4f01" /><Relationship Type="http://schemas.openxmlformats.org/officeDocument/2006/relationships/slide" Target="/ppt/slides/slide8.xml" Id="R9a12e4a458d045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8fc056c86245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ea302d85564338" /><Relationship Type="http://schemas.openxmlformats.org/officeDocument/2006/relationships/notesMaster" Target="/ppt/notesMasters/notesMaster1.xml" Id="R50e61ead25dc49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9ef5289a884061" /><Relationship Type="http://schemas.openxmlformats.org/officeDocument/2006/relationships/notesMaster" Target="/ppt/notesMasters/notesMaster1.xml" Id="Re88876be9b0440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0e00cf34ed44bc" /><Relationship Type="http://schemas.openxmlformats.org/officeDocument/2006/relationships/notesMaster" Target="/ppt/notesMasters/notesMaster1.xml" Id="R9c1c9af5f23643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c71fc0c63043c3" /><Relationship Type="http://schemas.openxmlformats.org/officeDocument/2006/relationships/notesMaster" Target="/ppt/notesMasters/notesMaster1.xml" Id="R95a8f24c506248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78f03871b24631" /><Relationship Type="http://schemas.openxmlformats.org/officeDocument/2006/relationships/notesMaster" Target="/ppt/notesMasters/notesMaster1.xml" Id="R139ea68483a745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267bd69a654c2f" /><Relationship Type="http://schemas.openxmlformats.org/officeDocument/2006/relationships/notesMaster" Target="/ppt/notesMasters/notesMaster1.xml" Id="R679398e2854b46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36c41891c143f7" /><Relationship Type="http://schemas.openxmlformats.org/officeDocument/2006/relationships/notesMaster" Target="/ppt/notesMasters/notesMaster1.xml" Id="R94f381aec49746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26e4586d114153" /><Relationship Type="http://schemas.openxmlformats.org/officeDocument/2006/relationships/notesMaster" Target="/ppt/notesMasters/notesMaster1.xml" Id="Rd091c33c006849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objetivo: cada processo recebe e envia blocos do mesmo arquivo. A ilustração representa o conceito de rede P2P. Fonte técnica: enunciado SD_TP2_2_2026.pdf, seções 1 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peer configura os outros três como vizinhos. Cada leecher inicia uma tarefa cliente por vizinho e continua tentando o primeiro contato mesmo se concluir o arquivo rapidamente. A semente completa aceita conexões sem precisar baixar. O servidor serve blocos já verificados enquanto o cliente baixa.</a:t>
            </a:r>
          </a:p>
          <a:p xmlns:a="http://schemas.openxmlformats.org/drawingml/2006/main">
            <a:r>
              <a:t>Fonte: https://github.com/Augusto42/sd-tp2-p2p-2026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metadado contém tamanho do arquivo, tamanho de bloco, hashes individuais e hash completo. O último bloco pode ser menor. A escrita usa offset no arquivo parcial. have é atualizado somente após a validação e escrita. busy evita solicitações duplicadas. Fonte: src/peer.py, put e finish.</a:t>
            </a:r>
          </a:p>
          <a:p xmlns:a="http://schemas.openxmlformats.org/drawingml/2006/main">
            <a:r>
              <a:t>Fonte: https://github.com/Augusto42/sd-tp2-p2p-2026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frame começa com quatro bytes big-endian contendo o tamanho do corpo. readexactly reconstrói mensagens mesmo quando TCP as divide. Um pedido por conexão fica em voo. Timeout de conexão: 2 s. Resposta: 5 s. Nova tentativa: 100 ms. Fonte: docs/protocolo.md e src/peer.py.</a:t>
            </a:r>
          </a:p>
          <a:p xmlns:a="http://schemas.openxmlformats.org/drawingml/2006/main">
            <a:r>
              <a:t>Fonte: https://github.com/Augusto42/sd-tp2-p2p-2026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 combinações: 2/4 peers, blocos de 1.024/4.096 bytes e arquivos de 10/20 KiB, 1/5/10/20 MiB. Todos os ensaios usam malha completa. Os logs verificam que cada leecher se conectou a todos os vizinhos, e que índices, fontes, tamanho e SHA-256 estão corretos. Processos independentes em TCP loopback; uma execução por configuração.</a:t>
            </a:r>
          </a:p>
          <a:p xmlns:a="http://schemas.openxmlformats.org/drawingml/2006/main">
            <a:r>
              <a:t>Fonte: https://github.com/Augusto42/sd-tp2-p2p-2026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Dados da execução de 30/10/2026 em resultados/resumo.json. [{"peers":2,"block":1024,"seconds":3.1995},{"peers":4,"block":1024,"seconds":10.2469},{"peers":2,"block":4096,"seconds":1.5319},{"peers":4,"block":4096,"seconds":5.0194}]. Quatro peers entregam três cópias em malha completa. Os tempos incluem inicialização, logs e espera pelo contato com todos os vizinhos; uma medição por caso, sem inferir desempenho em LAN/WAN.</a:t>
            </a:r>
          </a:p>
          <a:p xmlns:a="http://schemas.openxmlformats.org/drawingml/2006/main">
            <a:r>
              <a:t>Fonte: https://github.com/Augusto42/sd-tp2-p2p-2026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dois testes usam SIGKILL real durante downloads incompletos, com quatro peers em malha. No temporário, a única semente cai, os leechers preservam seus blocos em memória/disco e reconectam quando ela reinicia. No permanente, há duas sementes iniciais; uma cai e os três processos restantes concluem sem seu retorno. Ter cópias disponíveis é necessário para tolerar perda permanente. Tamanho e SHA-256 conferidos em todos os arquivos dos processos ativos; índices sem duplicação. Também passaram compartilhamento parcial, seeder tardio e múltiplas fontes. Evidência: resultados/queda_temporaria e resultados/queda_permanente.</a:t>
            </a:r>
          </a:p>
          <a:p xmlns:a="http://schemas.openxmlformats.org/drawingml/2006/main">
            <a:r>
              <a:t>Fonte: https://github.com/Augusto42/sd-tp2-p2p-2026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raiz do projeto, executar python3 tests/integration.py --demo. O comando abre quatro processos, mostra portas e progresso no momento da queda e executa dois cenários. Primeiro: única semente morta e reiniciada. Segundo: uma de duas sementes morta sem retorno. Observar peer_offline, peer_reiniciado e integridade_confirmada. O comando valida os arquivos automaticamente e encerra os processos. Logs em resultados/demo. Augusto pode acompanhar o terminal por compartilhamento de tela. Ensaio entre máquinas remotas não foi realizado. Reiniciar um leecher ainda descarta o parcial; o teste mantém os leechers ativos.</a:t>
            </a:r>
          </a:p>
          <a:p xmlns:a="http://schemas.openxmlformats.org/drawingml/2006/main">
            <a:r>
              <a:t>Fonte: https://github.com/Augusto42/sd-tp2-p2p-2026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25be365304d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a5faf87e140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ee4ea71c742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ed552fe774c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04a55c4534b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9ade1257e4d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824031-8AB6-4A45-BFB0-85A1B9B6C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ED739D-60ED-406F-B953-CC947441CC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F066C7-D7CE-45EF-B4C1-726B608426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6600A8-0E84-48F6-9FA2-F940B2C12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816FF9-BB09-495A-BB5F-0D2354EC2A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55CBC8-F5FD-4D99-A184-FB73CA89D7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4C841B-5D80-46B0-8C45-CABF93DD2F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30E732-EF98-477E-8F99-A82F62FC4F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6BD6AF-1C25-4C6D-8BAF-91B2F307F4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5A5C9D-1823-4F1F-A890-2F5DFC69DA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d2086a4fa74cd8" /><Relationship Type="http://schemas.openxmlformats.org/officeDocument/2006/relationships/slideLayout" Target="/ppt/slideLayouts/slideLayout1.xml" Id="Rc8b1e127fcfb429e" /><Relationship Type="http://schemas.openxmlformats.org/officeDocument/2006/relationships/slideLayout" Target="/ppt/slideLayouts/slideLayout2.xml" Id="R88c3bf29e3f446ad" /><Relationship Type="http://schemas.openxmlformats.org/officeDocument/2006/relationships/slideLayout" Target="/ppt/slideLayouts/slideLayout3.xml" Id="Recd613bff3c94900" /><Relationship Type="http://schemas.openxmlformats.org/officeDocument/2006/relationships/slideLayout" Target="/ppt/slideLayouts/slideLayout4.xml" Id="Rbafff9d812be46a8" /><Relationship Type="http://schemas.openxmlformats.org/officeDocument/2006/relationships/slideLayout" Target="/ppt/slideLayouts/slideLayout5.xml" Id="Ra860aa55203e4a16" /><Relationship Type="http://schemas.openxmlformats.org/officeDocument/2006/relationships/slideLayout" Target="/ppt/slideLayouts/slideLayout6.xml" Id="R22abc30367d84a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1e127fcfb429e"/>
    <p:sldLayoutId xmlns:r="http://schemas.openxmlformats.org/officeDocument/2006/relationships" id="2147483650" r:id="R88c3bf29e3f446ad"/>
    <p:sldLayoutId xmlns:r="http://schemas.openxmlformats.org/officeDocument/2006/relationships" id="2147483651" r:id="Recd613bff3c94900"/>
    <p:sldLayoutId xmlns:r="http://schemas.openxmlformats.org/officeDocument/2006/relationships" id="2147483652" r:id="Rbafff9d812be46a8"/>
    <p:sldLayoutId xmlns:r="http://schemas.openxmlformats.org/officeDocument/2006/relationships" id="2147483653" r:id="Ra860aa55203e4a16"/>
    <p:sldLayoutId xmlns:r="http://schemas.openxmlformats.org/officeDocument/2006/relationships" id="2147483654" r:id="R22abc30367d84a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ed2c8e59224f54" /><Relationship Type="http://schemas.openxmlformats.org/officeDocument/2006/relationships/image" Target="/ppt/media/image.png" Id="R673162d0edc843da" /><Relationship Type="http://schemas.openxmlformats.org/officeDocument/2006/relationships/notesSlide" Target="/ppt/notesSlides/notesSlide1.xml" Id="R4fdb349e35bd41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3b3b60a094dda" /><Relationship Type="http://schemas.openxmlformats.org/officeDocument/2006/relationships/notesSlide" Target="/ppt/notesSlides/notesSlide2.xml" Id="R41170934230848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453757adf4ec9" /><Relationship Type="http://schemas.openxmlformats.org/officeDocument/2006/relationships/notesSlide" Target="/ppt/notesSlides/notesSlide3.xml" Id="R15e3d9a6c7b44b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4970c42a054f57" /><Relationship Type="http://schemas.openxmlformats.org/officeDocument/2006/relationships/notesSlide" Target="/ppt/notesSlides/notesSlide4.xml" Id="Rb69643b2bc924a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b94e5531c4d12" /><Relationship Type="http://schemas.openxmlformats.org/officeDocument/2006/relationships/notesSlide" Target="/ppt/notesSlides/notesSlide5.xml" Id="R005d6acbe12242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375e39c6e4853" /><Relationship Type="http://schemas.openxmlformats.org/officeDocument/2006/relationships/chart" Target="/ppt/slides/charts/chart1.xml" Id="Re53a6cb467f740f2" /><Relationship Type="http://schemas.openxmlformats.org/officeDocument/2006/relationships/notesSlide" Target="/ppt/notesSlides/notesSlide6.xml" Id="R28fa3d42c2894b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07c75f1f14843" /><Relationship Type="http://schemas.openxmlformats.org/officeDocument/2006/relationships/notesSlide" Target="/ppt/notesSlides/notesSlide7.xml" Id="R1f9589eec02f4f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34556188840eb" /><Relationship Type="http://schemas.openxmlformats.org/officeDocument/2006/relationships/notesSlide" Target="/ppt/notesSlides/notesSlide8.xml" Id="R0f2400875c824e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Bloco de 1 KiB</c:v>
          </c:tx>
          <c:spPr>
            <a:solidFill xmlns:a="http://schemas.openxmlformats.org/drawingml/2006/main">
              <a:srgbClr val="087E8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2 peers</c:v>
                </c:pt>
                <c:pt idx="1">
                  <c:v>4 peers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3.1995</c:v>
                </c:pt>
                <c:pt idx="1">
                  <c:v>10.2469</c:v>
                </c:pt>
              </c:numCache>
            </c:numRef>
          </c:val>
        </c:ser>
        <c:ser>
          <c:idx val="1"/>
          <c:order val="1"/>
          <c:tx>
            <c:v>Bloco de 4 KiB</c:v>
          </c:tx>
          <c:spPr>
            <a:solidFill xmlns:a="http://schemas.openxmlformats.org/drawingml/2006/main">
              <a:srgbClr val="97B8B3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2 peers</c:v>
                </c:pt>
                <c:pt idx="1">
                  <c:v>4 peers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1.5319</c:v>
                </c:pt>
                <c:pt idx="1">
                  <c:v>5.0194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42F3A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D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Lato"/>
                    <a:ea typeface="Lato"/>
                    <a:cs typeface="Lato"/>
                  </a:rPr>
                  <a:t>Tempo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ato"/>
                  <a:ea typeface="Lato"/>
                  <a:cs typeface="Lato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5F4E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42F3A"/>
              </a:solidFill>
              <a:latin typeface="Lato"/>
              <a:ea typeface="Lato"/>
              <a:cs typeface="Lato"/>
            </a:defRPr>
          </a:pPr>
        </a:p>
      </c:txPr>
    </c:legend>
    <c:plotVisOnly val="1"/>
  </c:chart>
  <c:spPr>
    <a:solidFill xmlns:a="http://schemas.openxmlformats.org/drawingml/2006/main">
      <a:srgbClr val="F5F4EF"/>
    </a:solidFill>
  </c:spPr>
  <c:externalData xmlns:r="http://schemas.openxmlformats.org/officeDocument/2006/relationships"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4BCA1-F7B6-4A27-8F46-8961F0AA3D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162d0edc843da"/>
          <a:stretch xmlns:a="http://schemas.openxmlformats.org/drawingml/2006/main"/>
        </p:blipFill>
        <p:spPr>
          <a:xfrm xmlns:a="http://schemas.openxmlformats.org/drawingml/2006/main">
            <a:off x="6191250" y="523875"/>
            <a:ext cx="5810250" cy="5810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28DA2-61A1-4EA1-BC36-42593C1F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65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65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65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65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65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65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65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65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65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64DFCD"/>
                </a:solidFill>
                <a:latin typeface="Lato"/>
                <a:ea typeface="Lato"/>
                <a:cs typeface="Lato"/>
              </a:rPr>
              <a:t>SISTEMAS DISTRIBUÍDOS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4A3DC-3D75-4215-A2DF-079F0206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810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51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Transferência</a:t>
            </a:r>
          </a:p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51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de arquivos</a:t>
            </a:r>
          </a:p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51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P2P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1AEBF-2773-438B-8D1A-059F2064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8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8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8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8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8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8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8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8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8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Augusto Coelho Fagundes</a:t>
            </a:r>
          </a:p>
          <a:p xmlns:a="http://schemas.openxmlformats.org/drawingml/2006/main">
            <a:pPr>
              <a:buNone/>
              <a:defRPr sz="18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ADJAILSON FREIRE DE SÁ FILHO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B57C0-3D42-452C-9D96-65AD4D6B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4C6CB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575" b="0">
                <a:solidFill>
                  <a:srgbClr val="B4C6CB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575" b="0">
                <a:solidFill>
                  <a:srgbClr val="B4C6CB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575" b="0">
                <a:solidFill>
                  <a:srgbClr val="B4C6CB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575" b="0">
                <a:solidFill>
                  <a:srgbClr val="B4C6CB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575" b="0">
                <a:solidFill>
                  <a:srgbClr val="B4C6CB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575" b="0">
                <a:solidFill>
                  <a:srgbClr val="B4C6CB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575" b="0">
                <a:solidFill>
                  <a:srgbClr val="B4C6CB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575" b="0">
                <a:solidFill>
                  <a:srgbClr val="B4C6CB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575" b="0">
                <a:solidFill>
                  <a:srgbClr val="B4C6CB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B4C6CB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B4C6CB"/>
                </a:solidFill>
                <a:latin typeface="Lato"/>
                <a:ea typeface="Lato"/>
                <a:cs typeface="Lato"/>
              </a:rPr>
              <a:t>CEFET-MG · TP2 · 2026/2</a:t>
            </a:r>
          </a:p>
          <a:p xmlns:a="http://schemas.openxmlformats.org/drawingml/2006/main">
            <a:pPr>
              <a:buNone/>
              <a:defRPr sz="1575" b="0">
                <a:solidFill>
                  <a:srgbClr val="B4C6CB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B4C6CB"/>
                </a:solidFill>
                <a:latin typeface="Lato"/>
                <a:ea typeface="Lato"/>
                <a:cs typeface="Lato"/>
              </a:rPr>
              <a:t>Professora Michelle Hanne</a:t>
            </a:r>
          </a:p>
        </p:txBody>
      </p:sp>
    </p:spTree>
    <p:extLst>
      <p:ext uri="{BB962C8B-B14F-4D97-AF65-F5344CB8AC3E}">
        <p14:creationId xmlns:p14="http://schemas.microsoft.com/office/powerpoint/2010/main" val="2007026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C0135-B032-45AF-9E93-E6B60E03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Um processo, dois papéis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B5D34-FFE5-4B72-AD3D-70B927AC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66C74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A99E4-9E0B-416C-A7D3-DF312944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087E83"/>
                </a:solidFill>
                <a:latin typeface="Lato"/>
                <a:ea typeface="Lato"/>
                <a:cs typeface="Lato"/>
              </a:rPr>
              <a:t>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50601-CF5E-4A2B-982A-25779FDF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Solicita blocos</a:t>
            </a:r>
          </a:p>
          <a:p xmlns:a="http://schemas.openxmlformats.org/drawingml/2006/main">
            <a: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aos vizinhos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ECE84-D298-4470-BD9C-36EC84B9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66C74"/>
                </a:solidFill>
                <a:latin typeface="Lato"/>
                <a:ea typeface="Lato"/>
                <a:cs typeface="Lato"/>
              </a:rPr>
              <a:t>Uma tarefa assíncrona por vizinho.</a:t>
            </a:r>
          </a:p>
          <a:p xmlns:a="http://schemas.openxmlformats.org/drawingml/2006/main">
            <a: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66C74"/>
                </a:solidFill>
                <a:latin typeface="Lato"/>
                <a:ea typeface="Lato"/>
                <a:cs typeface="Lato"/>
              </a:rPr>
              <a:t>Conexões TCP persistentes.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17817-6D55-4AB8-8526-DFD26539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954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087E83"/>
                </a:solidFill>
                <a:latin typeface="Lato"/>
                <a:ea typeface="Lato"/>
                <a:cs typeface="Lato"/>
              </a:rPr>
              <a:t>SERVIDOR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7A140-060E-4911-BAE3-0C35091A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Compartilha os</a:t>
            </a:r>
          </a:p>
          <a:p xmlns:a="http://schemas.openxmlformats.org/drawingml/2006/main">
            <a: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blocos já recebidos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044F8-6210-4870-98AF-14D2D8B7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66C74"/>
                </a:solidFill>
                <a:latin typeface="Lato"/>
                <a:ea typeface="Lato"/>
                <a:cs typeface="Lato"/>
              </a:rPr>
              <a:t>O envio começa antes de completar</a:t>
            </a:r>
          </a:p>
          <a:p xmlns:a="http://schemas.openxmlformats.org/drawingml/2006/main">
            <a: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66C74"/>
                </a:solidFill>
                <a:latin typeface="Lato"/>
                <a:ea typeface="Lato"/>
                <a:cs typeface="Lato"/>
              </a:rPr>
              <a:t>o download do arquivo.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4001B-0AEA-4679-94AD-BD691375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87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87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87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87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87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87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87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87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87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87E83"/>
                </a:solidFill>
                <a:latin typeface="Lato"/>
                <a:ea typeface="Lato"/>
                <a:cs typeface="Lato"/>
              </a:rPr>
              <a:t>Malha completa: cada leecher se conecta a todos os vizinhos</a:t>
            </a:r>
          </a:p>
        </p:txBody>
      </p:sp>
    </p:spTree>
    <p:extLst>
      <p:ext uri="{BB962C8B-B14F-4D97-AF65-F5344CB8AC3E}">
        <p14:creationId xmlns:p14="http://schemas.microsoft.com/office/powerpoint/2010/main" val="23696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2D949-FFF7-4BDE-B500-E75280E4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Recepção e integridade dos blocos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ACC2F-902E-487E-BFF3-5BECBFC6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66C74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4EED8-FF30-4ED6-AA70-8AAB05D7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pPr>
            <a:r>
              <a:rPr sz="3900" b="1">
                <a:solidFill>
                  <a:srgbClr val="087E83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73F81-90CD-4604-92B7-CB7FFFAD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8288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Solicitar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CE89F-43AE-4F8D-9981-7D7F395F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7642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66C74"/>
                </a:solidFill>
                <a:latin typeface="Lato"/>
                <a:ea typeface="Lato"/>
                <a:cs typeface="Lato"/>
              </a:rPr>
              <a:t>Consultar o inventário e escolher um bloco ausente.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ED6FB-CCB0-425D-A2C0-A42F8D8F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pPr>
            <a:r>
              <a:rPr sz="3900" b="1">
                <a:solidFill>
                  <a:srgbClr val="087E83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83A55-B338-48F8-9905-71F345F1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765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Verificar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7DAC0-60AE-4C78-84FD-AEE194DA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2417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66C74"/>
                </a:solidFill>
                <a:latin typeface="Lato"/>
                <a:ea typeface="Lato"/>
                <a:cs typeface="Lato"/>
              </a:rPr>
              <a:t>Conferir tamanho e SHA-256 do bloco recebido.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E5F87-1AD3-4F1B-BFE0-D2AFB35C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pPr>
            <a:r>
              <a:rPr sz="3900" b="1">
                <a:solidFill>
                  <a:srgbClr val="087E83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027AD-AC88-47DA-B302-85A48091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243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Compartilhar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ED04E-360E-492C-AC3B-F931D418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7192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66C74"/>
                </a:solidFill>
                <a:latin typeface="Lato"/>
                <a:ea typeface="Lato"/>
                <a:cs typeface="Lato"/>
              </a:rPr>
              <a:t>Gravar por posição e disponibilizar o bloco.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921B2-6AD9-4955-9BF6-0C212CEB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pPr>
            <a:r>
              <a:rPr sz="3900" b="1">
                <a:solidFill>
                  <a:srgbClr val="087E83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2817C-42C8-45E4-A3FF-4904F02F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720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Concluir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DD7FA-6186-489A-9F0F-24B2671B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1967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66C74"/>
                </a:solidFill>
                <a:latin typeface="Lato"/>
                <a:ea typeface="Lato"/>
                <a:cs typeface="Lato"/>
              </a:rPr>
              <a:t>Validar o SHA-256 completo e publicar o arquivo.</a:t>
            </a:r>
          </a:p>
        </p:txBody>
      </p:sp>
    </p:spTree>
    <p:extLst>
      <p:ext uri="{BB962C8B-B14F-4D97-AF65-F5344CB8AC3E}">
        <p14:creationId xmlns:p14="http://schemas.microsoft.com/office/powerpoint/2010/main" val="957293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D5955-F947-48D5-8917-FCC710DB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Protocolo sobre TCP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46E14-DFC7-43A5-BFC4-C377F078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66C74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C773A-8CAD-4D2B-A3E1-76DBD9EE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32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32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32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32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32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32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32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32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32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087E83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087E83"/>
                </a:solidFill>
                <a:latin typeface="Lato"/>
                <a:ea typeface="Lato"/>
                <a:cs typeface="Lato"/>
              </a:rPr>
              <a:t>4 bytes de comprimento + corpo da mensagem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A4D40-945F-4205-AAE8-767CE24EC80C}"/>
              </a:ext>
            </a:extLst>
          </p:cNvPr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762250"/>
                <a:gridCol w="5867400"/>
              </a:tblGrid>
              <a:tr h="609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Mensagem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DF"/>
                      </a:solidFill>
                      <a:prstDash val="solid"/>
                    </a:lnL>
                    <a:lnR w="9525">
                      <a:solidFill>
                        <a:srgbClr val="D9E1DF"/>
                      </a:solidFill>
                      <a:prstDash val="solid"/>
                    </a:lnR>
                    <a:lnT w="9525">
                      <a:solidFill>
                        <a:srgbClr val="D9E1DF"/>
                      </a:solidFill>
                      <a:prstDash val="solid"/>
                    </a:lnT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10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Conteúdo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DF"/>
                      </a:solidFill>
                      <a:prstDash val="solid"/>
                    </a:lnR>
                    <a:lnT w="9525">
                      <a:solidFill>
                        <a:srgbClr val="D9E1DF"/>
                      </a:solidFill>
                      <a:prstDash val="solid"/>
                    </a:lnT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10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Função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DF"/>
                      </a:solidFill>
                      <a:prstDash val="solid"/>
                    </a:lnR>
                    <a:lnT w="9525">
                      <a:solidFill>
                        <a:srgbClr val="D9E1DF"/>
                      </a:solidFill>
                      <a:prstDash val="solid"/>
                    </a:lnT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101E2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A"/>
                          </a:solidFill>
                          <a:latin typeface="Lato"/>
                          <a:ea typeface="Lato"/>
                          <a:cs typeface="Lato"/>
                        </a:rPr>
                        <a:t>have / get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DF"/>
                      </a:solidFill>
                      <a:prstDash val="solid"/>
                    </a:lnL>
                    <a:lnR w="9525">
                      <a:solidFill>
                        <a:srgbClr val="D9E1DF"/>
                      </a:solidFill>
                      <a:prstDash val="solid"/>
                    </a:lnR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A"/>
                          </a:solidFill>
                          <a:latin typeface="Lato"/>
                          <a:ea typeface="Lato"/>
                          <a:cs typeface="Lato"/>
                        </a:rPr>
                        <a:t>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DF"/>
                      </a:solidFill>
                      <a:prstDash val="solid"/>
                    </a:lnR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A"/>
                          </a:solidFill>
                          <a:latin typeface="Lato"/>
                          <a:ea typeface="Lato"/>
                          <a:cs typeface="Lato"/>
                        </a:rPr>
                        <a:t>Consultar inventário ou solicitar bloco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DF"/>
                      </a:solidFill>
                      <a:prstDash val="solid"/>
                    </a:lnR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A"/>
                          </a:solidFill>
                          <a:latin typeface="Lato"/>
                          <a:ea typeface="Lato"/>
                          <a:cs typeface="Lato"/>
                        </a:rPr>
                        <a:t>J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DF"/>
                      </a:solidFill>
                      <a:prstDash val="solid"/>
                    </a:lnL>
                    <a:lnR w="9525">
                      <a:solidFill>
                        <a:srgbClr val="D9E1DF"/>
                      </a:solidFill>
                      <a:prstDash val="solid"/>
                    </a:lnR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E7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A"/>
                          </a:solidFill>
                          <a:latin typeface="Lato"/>
                          <a:ea typeface="Lato"/>
                          <a:cs typeface="Lato"/>
                        </a:rPr>
                        <a:t>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DF"/>
                      </a:solidFill>
                      <a:prstDash val="solid"/>
                    </a:lnR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E7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A"/>
                          </a:solidFill>
                          <a:latin typeface="Lato"/>
                          <a:ea typeface="Lato"/>
                          <a:cs typeface="Lato"/>
                        </a:rPr>
                        <a:t>Responder com índices disponíveis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DF"/>
                      </a:solidFill>
                      <a:prstDash val="solid"/>
                    </a:lnR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E7EEE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A"/>
                          </a:solidFill>
                          <a:latin typeface="Lato"/>
                          <a:ea typeface="Lato"/>
                          <a:cs typeface="Lato"/>
                        </a:rPr>
                        <a:t>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DF"/>
                      </a:solidFill>
                      <a:prstDash val="solid"/>
                    </a:lnL>
                    <a:lnR w="9525">
                      <a:solidFill>
                        <a:srgbClr val="D9E1DF"/>
                      </a:solidFill>
                      <a:prstDash val="solid"/>
                    </a:lnR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A"/>
                          </a:solidFill>
                          <a:latin typeface="Lato"/>
                          <a:ea typeface="Lato"/>
                          <a:cs typeface="Lato"/>
                        </a:rPr>
                        <a:t>Bytes do arquivo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DF"/>
                      </a:solidFill>
                      <a:prstDash val="solid"/>
                    </a:lnR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A"/>
                          </a:solidFill>
                          <a:latin typeface="Lato"/>
                          <a:ea typeface="Lato"/>
                          <a:cs typeface="Lato"/>
                        </a:rPr>
                        <a:t>Entregar um bloco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DF"/>
                      </a:solidFill>
                      <a:prstDash val="solid"/>
                    </a:lnR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A"/>
                          </a:solidFill>
                          <a:latin typeface="Lato"/>
                          <a:ea typeface="Lato"/>
                          <a:cs typeface="Lato"/>
                        </a:rPr>
                        <a:t>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DF"/>
                      </a:solidFill>
                      <a:prstDash val="solid"/>
                    </a:lnL>
                    <a:lnR w="9525">
                      <a:solidFill>
                        <a:srgbClr val="D9E1DF"/>
                      </a:solidFill>
                      <a:prstDash val="solid"/>
                    </a:lnR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E7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A"/>
                          </a:solidFill>
                          <a:latin typeface="Lato"/>
                          <a:ea typeface="Lato"/>
                          <a:cs typeface="Lato"/>
                        </a:rPr>
                        <a:t>Texto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DF"/>
                      </a:solidFill>
                      <a:prstDash val="solid"/>
                    </a:lnR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E7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A"/>
                          </a:solidFill>
                          <a:latin typeface="Lato"/>
                          <a:ea typeface="Lato"/>
                          <a:cs typeface="Lato"/>
                        </a:rPr>
                        <a:t>Informar erro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DF"/>
                      </a:solidFill>
                      <a:prstDash val="solid"/>
                    </a:lnR>
                    <a:lnB w="9525">
                      <a:solidFill>
                        <a:srgbClr val="D9E1DF"/>
                      </a:solidFill>
                      <a:prstDash val="solid"/>
                    </a:lnB>
                    <a:solidFill>
                      <a:srgbClr val="E7EEE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36946-9FBD-42FB-B7D7-66061E27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95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95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95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95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95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95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95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95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95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566C74"/>
                </a:solidFill>
                <a:latin typeface="Lato"/>
                <a:ea typeface="Lato"/>
                <a:cs typeface="Lato"/>
              </a:rPr>
              <a:t>Blocos em formato binário, sem expansão de base64.</a:t>
            </a:r>
          </a:p>
        </p:txBody>
      </p:sp>
    </p:spTree>
    <p:extLst>
      <p:ext uri="{BB962C8B-B14F-4D97-AF65-F5344CB8AC3E}">
        <p14:creationId xmlns:p14="http://schemas.microsoft.com/office/powerpoint/2010/main" val="1381316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657E8-A4FF-429A-864F-5E6F4C7E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Matriz de testes em malha completa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FF733-9A94-4886-BFF8-827A6E15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4DFCD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72782-E2B2-4252-89F8-B42E4736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40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140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140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140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140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140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140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140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140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140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1400" b="1">
                <a:solidFill>
                  <a:srgbClr val="64DFCD"/>
                </a:solidFill>
                <a:latin typeface="Lato"/>
                <a:ea typeface="Lato"/>
                <a:cs typeface="Lato"/>
              </a:defRPr>
            </a:pPr>
            <a:r>
              <a:rPr sz="11400" b="1">
                <a:solidFill>
                  <a:srgbClr val="64DFCD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E4D0A-7CD9-4550-868C-EF06F060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combinações</a:t>
            </a:r>
          </a:p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aprovadas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EC173-496A-4274-89FF-C2BEAD44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7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7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7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7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7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7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7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7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7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2 e 4 peers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66841-47A1-4E37-8CC8-EB6AC37F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Blocos de 1.024 e 4.096 bytes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0A6CA-338C-4362-BFE9-78DC609F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147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Arquivos de 10 e 20 KiB</a:t>
            </a:r>
          </a:p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e 1, 5, 10 e 20 MiB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D9DAD-F955-4078-AB4C-BF8FAB5F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02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02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02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02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02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02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02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02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02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64DFCD"/>
                </a:solidFill>
                <a:latin typeface="Lato"/>
                <a:ea typeface="Lato"/>
                <a:cs typeface="Lato"/>
              </a:rPr>
              <a:t>Verificações: SHA-256, tamanho final e origem dos blocos.</a:t>
            </a:r>
          </a:p>
        </p:txBody>
      </p:sp>
    </p:spTree>
    <p:extLst>
      <p:ext uri="{BB962C8B-B14F-4D97-AF65-F5344CB8AC3E}">
        <p14:creationId xmlns:p14="http://schemas.microsoft.com/office/powerpoint/2010/main" val="5925374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8794B-093E-483B-95D0-01D45160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Tempo de transferência em malha — 20 MiB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BFDF9-C3CD-44A5-8CF9-9E21A68D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66C74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43D4714-B4A8-46E2-859B-DE05A40417DD}"/>
              </a:ext>
            </a:extLst>
          </p:cNvPr>
          <p:cNvGraphicFramePr/>
          <p:nvPr/>
        </p:nvGraphicFramePr>
        <p:xfrm>
          <a:off xmlns:a="http://schemas.openxmlformats.org/drawingml/2006/main" x="619125" y="1657350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3a6cb467f740f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386A6-C09F-4332-840F-D53CD25F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8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8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8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8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8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8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8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8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8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566C74"/>
                </a:solidFill>
                <a:latin typeface="Lato"/>
                <a:ea typeface="Lato"/>
                <a:cs typeface="Lato"/>
              </a:rPr>
              <a:t>Uma execução por caso em loopback, incluindo inicialização e logs.</a:t>
            </a:r>
          </a:p>
        </p:txBody>
      </p:sp>
    </p:spTree>
    <p:extLst>
      <p:ext uri="{BB962C8B-B14F-4D97-AF65-F5344CB8AC3E}">
        <p14:creationId xmlns:p14="http://schemas.microsoft.com/office/powerpoint/2010/main" val="985100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3BA09-388A-4CAA-BAF9-73ACE3E5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Compartilhamento e recuperação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994A8-D898-4E76-A2EC-11462688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66C74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C425E-9F29-4B9A-8251-BB7724A5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8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8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8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8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8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8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8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8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8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8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pPr>
            <a:r>
              <a:rPr sz="8100" b="1">
                <a:solidFill>
                  <a:srgbClr val="087E83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BB40F-23AB-4D79-BE99-37BD752F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625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625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625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625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625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625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625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625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625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625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142F3A"/>
                </a:solidFill>
                <a:latin typeface="Lato"/>
                <a:ea typeface="Lato"/>
                <a:cs typeface="Lato"/>
              </a:rPr>
              <a:t>quedas durante</a:t>
            </a:r>
          </a:p>
          <a:p xmlns:a="http://schemas.openxmlformats.org/drawingml/2006/main">
            <a:pPr>
              <a:buNone/>
              <a:defRPr sz="2625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142F3A"/>
                </a:solidFill>
                <a:latin typeface="Lato"/>
                <a:ea typeface="Lato"/>
                <a:cs typeface="Lato"/>
              </a:rPr>
              <a:t>o download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59C5F-DF98-4690-AEC4-7EB73DF2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Queda temporária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3B0B6-BCD8-435A-9AC1-7F9370EF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66C74"/>
                </a:solidFill>
                <a:latin typeface="Lato"/>
                <a:ea typeface="Lato"/>
                <a:cs typeface="Lato"/>
              </a:rPr>
              <a:t>Reconexão após o retorno da única semente.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7C69F-6DBF-427F-9BC7-A108AB43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42F3A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42F3A"/>
                </a:solidFill>
                <a:latin typeface="Lato"/>
                <a:ea typeface="Lato"/>
                <a:cs typeface="Lato"/>
              </a:rPr>
              <a:t>Queda permanente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97484-F378-48A1-A1EC-583EE897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9100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66C74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66C74"/>
                </a:solidFill>
                <a:latin typeface="Lato"/>
                <a:ea typeface="Lato"/>
                <a:cs typeface="Lato"/>
              </a:rPr>
              <a:t>Conclusão por outra fonte, com duas sementes.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9C152-F3EB-4D19-8EE7-834BC957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87E83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87E83"/>
                </a:solidFill>
                <a:latin typeface="Lato"/>
                <a:ea typeface="Lato"/>
                <a:cs typeface="Lato"/>
              </a:rPr>
              <a:t>29 cenários de integração + 11 testes unitários aprovados</a:t>
            </a:r>
          </a:p>
        </p:txBody>
      </p:sp>
    </p:spTree>
    <p:extLst>
      <p:ext uri="{BB962C8B-B14F-4D97-AF65-F5344CB8AC3E}">
        <p14:creationId xmlns:p14="http://schemas.microsoft.com/office/powerpoint/2010/main" val="1541206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0674D-9FEC-4721-ABD6-92A91426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Demonstração e 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77087-7F8A-4FAA-9697-3F6E32CE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4DFC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4DFCD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64493-D4B3-47CA-A724-BC082428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pPr>
            <a:r>
              <a:rPr sz="3525" b="1">
                <a:solidFill>
                  <a:srgbClr val="64DFCD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E81E6-B4F7-401A-A6EF-98C5B152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240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550" b="0">
                <a:solidFill>
                  <a:srgbClr val="FFFFFF"/>
                </a:solidFill>
                <a:latin typeface="Lato"/>
                <a:ea typeface="Lato"/>
                <a:cs typeface="Lato"/>
              </a:rPr>
              <a:t>python3 tests/integration.py --demo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63BD5-8F15-443D-85C7-C661C32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pPr>
            <a:r>
              <a:rPr sz="3525" b="1">
                <a:solidFill>
                  <a:srgbClr val="64DFCD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89F17-CE39-4F91-A459-922A80DE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550" b="0">
                <a:solidFill>
                  <a:srgbClr val="FFFFFF"/>
                </a:solidFill>
                <a:latin typeface="Lato"/>
                <a:ea typeface="Lato"/>
                <a:cs typeface="Lato"/>
              </a:rPr>
              <a:t>Observar a queda de um peer durante o download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4907A-27DE-4EF6-9C6C-2658B9F6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pPr>
            <a:r>
              <a:rPr sz="3525" b="1">
                <a:solidFill>
                  <a:srgbClr val="64DFCD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D87B8-A549-4F49-94B1-F587AF55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433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550" b="0">
                <a:solidFill>
                  <a:srgbClr val="FFFFFF"/>
                </a:solidFill>
                <a:latin typeface="Lato"/>
                <a:ea typeface="Lato"/>
                <a:cs typeface="Lato"/>
              </a:rPr>
              <a:t>Conferir reconexão, fontes alternativas e SHA-256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5C752-8EE8-4A5F-89CA-9A8AE479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2D2D8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800" b="0">
                <a:solidFill>
                  <a:srgbClr val="C2D2D8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800" b="0">
                <a:solidFill>
                  <a:srgbClr val="C2D2D8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800" b="0">
                <a:solidFill>
                  <a:srgbClr val="C2D2D8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800" b="0">
                <a:solidFill>
                  <a:srgbClr val="C2D2D8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800" b="0">
                <a:solidFill>
                  <a:srgbClr val="C2D2D8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800" b="0">
                <a:solidFill>
                  <a:srgbClr val="C2D2D8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800" b="0">
                <a:solidFill>
                  <a:srgbClr val="C2D2D8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800" b="0">
                <a:solidFill>
                  <a:srgbClr val="C2D2D8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800" b="0">
                <a:solidFill>
                  <a:srgbClr val="C2D2D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C2D2D8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C2D2D8"/>
                </a:solidFill>
                <a:latin typeface="Lato"/>
                <a:ea typeface="Lato"/>
                <a:cs typeface="Lato"/>
              </a:rPr>
              <a:t>Sem outra cópia dos blocos, é preciso aguardar a fonte voltar.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E750B-5411-4099-A5C6-0279B358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defPPr>
            <a:lvl1pPr>
              <a:buNone/>
              <a:defRPr sz="187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1pPr>
            <a:lvl2pPr>
              <a:buNone/>
              <a:defRPr sz="187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2pPr>
            <a:lvl3pPr>
              <a:buNone/>
              <a:defRPr sz="187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3pPr>
            <a:lvl4pPr>
              <a:buNone/>
              <a:defRPr sz="187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4pPr>
            <a:lvl5pPr>
              <a:buNone/>
              <a:defRPr sz="187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5pPr>
            <a:lvl6pPr>
              <a:buNone/>
              <a:defRPr sz="187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6pPr>
            <a:lvl7pPr>
              <a:buNone/>
              <a:defRPr sz="187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7pPr>
            <a:lvl8pPr>
              <a:buNone/>
              <a:defRPr sz="187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8pPr>
            <a:lvl9pPr>
              <a:buNone/>
              <a:defRPr sz="187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64DFCD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64DFCD"/>
                </a:solidFill>
                <a:latin typeface="Lato"/>
                <a:ea typeface="Lato"/>
                <a:cs typeface="Lato"/>
              </a:rPr>
              <a:t>github.com/Augusto42/sd-tp2-p2p-2026</a:t>
            </a:r>
          </a:p>
        </p:txBody>
      </p:sp>
    </p:spTree>
    <p:extLst>
      <p:ext uri="{BB962C8B-B14F-4D97-AF65-F5344CB8AC3E}">
        <p14:creationId xmlns:p14="http://schemas.microsoft.com/office/powerpoint/2010/main" val="6204658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2026-10-30T10:44:49.9270000Z</dcterms:created>
  <dcterms:modified xsi:type="dcterms:W3CDTF">2026-10-30T10:44:49.9270000Z</dcterms:modified>
</coreProperties>
</file>